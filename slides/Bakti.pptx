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369A1"/>
                </a:solidFill>
                <a:latin typeface="Manrope"/>
              </a:rPr>
              <a:t>HOP STELLAR 2026 · PRODUCT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369A1"/>
                </a:solidFill>
                <a:latin typeface="Fraunces"/>
              </a:rPr>
              <a:t>Bakti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Plan salary-day support. Verify the transfer.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1617A"/>
                </a:solidFill>
                <a:latin typeface="Manrope"/>
              </a:rPr>
              <a:t>Filipino workers in Malaysia → family in the Philippines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83280"/>
            <a:ext cx="1188720" cy="310896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MAINNET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1617A"/>
                </a:solidFill>
                <a:latin typeface="Manrope"/>
              </a:rPr>
              <a:t>Stellar mainnet product · licensed cash-out is the next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HUMAN PROBLEM / TARGET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“I want support to be ready around salary day.”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2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3108960" cy="310896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ILLUSTRATIVE PERSONA — NOT A CLAIMED INTERVIEW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B1B2B"/>
                </a:solidFill>
                <a:latin typeface="Fraunces"/>
              </a:rPr>
              <a:t>Maria is a Filipino service worker in Kuala Lumpur. Around salary day she wants to set aside support for her mother in the Philippines, remember the commitment, and know where the transfer went.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1617A"/>
                </a:solidFill>
                <a:latin typeface="Manrope"/>
              </a:rPr>
              <a:t>Today she still needs her mother's Stellar address. Maria signs every transfer; Bakti does not send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369A1"/>
                </a:solidFill>
                <a:latin typeface="Manrope"/>
              </a:rPr>
              <a:t>Job: make family support intentional, legible, and verifiable.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CORRIDOR EVIDENCE — SIGNAL, NOT 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A large national flow, with a measured Malaysia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230368" cy="1600200"/>
          </a:xfrm>
          <a:prstGeom prst="roundRect">
            <a:avLst/>
          </a:prstGeom>
          <a:solidFill>
            <a:srgbClr val="FDF1E0"/>
          </a:solidFill>
          <a:ln w="15240">
            <a:solidFill>
              <a:srgbClr val="FD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1B2B"/>
                </a:solidFill>
                <a:latin typeface="Fraunces"/>
              </a:rPr>
              <a:t>US$35.634B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17A"/>
                </a:solidFill>
                <a:latin typeface="Manrope"/>
              </a:rPr>
              <a:t>Philippines cash remittances, 2025 preliminary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30368" cy="1600200"/>
          </a:xfrm>
          <a:prstGeom prst="roundRect">
            <a:avLst/>
          </a:prstGeom>
          <a:solidFill>
            <a:srgbClr val="FDF1E0"/>
          </a:solidFill>
          <a:ln w="15240">
            <a:solidFill>
              <a:srgbClr val="FD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1051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1B2B"/>
                </a:solidFill>
                <a:latin typeface="Fraunces"/>
              </a:rPr>
              <a:t>US$675.153M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9572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17A"/>
                </a:solidFill>
                <a:latin typeface="Manrope"/>
              </a:rPr>
              <a:t>Malaysia-attributed Philippine cash remittances, 2025 provisional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10808208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B2B"/>
                </a:solidFill>
                <a:latin typeface="Manrope"/>
              </a:rPr>
              <a:t>Jan–May 2026 already US$279.807M Malaysia-attributed cash.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17A"/>
                </a:solidFill>
                <a:latin typeface="Manrope"/>
              </a:rPr>
              <a:t>BSP source-country attribution is the immediate source of funds, not necessarily true origin.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8076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1617A"/>
                </a:solidFill>
                <a:latin typeface="Manrope"/>
              </a:rPr>
              <a:t>Source: BSP https://www.bsp.gov.ph/statistics/external/ofw.aspx and https://www.bsp.gov.ph/statistics/external/ofw2.aspx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PRODUCT TODAY VS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Plan, sign, and verify on-chain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4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30368" cy="4343400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37360"/>
            <a:ext cx="1481328" cy="310896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14813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TODAY · 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617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Freighter connection + custom signed manageData session (not SEP-10)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Support-plan records; reminder day is metadata only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XLM Soroban escrow/release with 60-ledger demo cadence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Direct XLM/USDC payment to entered recipient address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Horizon/RPC verification, SEP-7 direct pay link, recipient watcher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Status ends at Verified on-chain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30368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1737360"/>
            <a:ext cx="146304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556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NEXT ·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67712"/>
            <a:ext cx="4617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Licensed anchor/provider onboarding and agreements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SEP-1 + provider SEP-10 + hosted SEP-24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KYC, quote/limits, approved deposit routing, provider status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PHP cash-out, provider reference, provider-confirmed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ONE FLOW — SOLID IS CURRENT, DASHED IS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Solid is current. Dashed is planned.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5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057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67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B2B"/>
                </a:solidFill>
                <a:latin typeface="Manrope"/>
              </a:rPr>
              <a:t>Sender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7860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1617A"/>
                </a:solidFill>
                <a:latin typeface="Manrope"/>
              </a:rPr>
              <a:t>Filipino worker
in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23134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Manrop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874519"/>
            <a:ext cx="2057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167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B2B"/>
                </a:solidFill>
                <a:latin typeface="Manrope"/>
              </a:rPr>
              <a:t>Bakti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57860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1617A"/>
                </a:solidFill>
                <a:latin typeface="Manrope"/>
              </a:rPr>
              <a:t>Recipient + amount
+ planning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23134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Manrop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74519"/>
            <a:ext cx="2057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67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B2B"/>
                </a:solidFill>
                <a:latin typeface="Manrope"/>
              </a:rPr>
              <a:t>Stellar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7860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1617A"/>
                </a:solidFill>
                <a:latin typeface="Manrope"/>
              </a:rPr>
              <a:t>Direct payment or
XLM escrow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31343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0369A1"/>
                </a:solidFill>
                <a:latin typeface="Manrop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2016" y="1874519"/>
            <a:ext cx="2057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2167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B2B"/>
                </a:solidFill>
                <a:latin typeface="Manrope"/>
              </a:rPr>
              <a:t>Recipient 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57860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1617A"/>
                </a:solidFill>
                <a:latin typeface="Manrope"/>
              </a:rPr>
              <a:t>Entered Stellar
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1080820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133087"/>
            <a:ext cx="91440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5137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096512"/>
            <a:ext cx="9098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B2B"/>
                </a:solidFill>
                <a:latin typeface="Manrope"/>
              </a:rPr>
              <a:t>Planned continuation: Stellar/provider deposit → licensed anchor → KYC → PHP cash-out → family member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WHY STELLAR; WHY THE PROVIDER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Verifiable rails now; regulated last mile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30368" cy="4389120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369A1"/>
                </a:solidFill>
                <a:latin typeface="Manrope"/>
              </a:rPr>
              <a:t>WHY STELLAR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4617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Freighter keeps transaction signing with the sender.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Horizon and Soroban RPC make the implemented transfers inspectable.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Soroban demonstrates pre-funded XLM release rules.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Stellar anchors connect network assets to off-chain rails.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SEP-24 is a hosted interactive deposit/withdrawal flow with anchor authentication and KYC.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3036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922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369A1"/>
                </a:solidFill>
                <a:latin typeface="Manrope"/>
              </a:rPr>
              <a:t>PROVIDER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212848"/>
            <a:ext cx="4617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250">
                <a:solidFill>
                  <a:srgbClr val="51617A"/>
                </a:solidFill>
                <a:latin typeface="Manrope"/>
              </a:defRPr>
            </a:pPr>
            <a:r>
              <a:t>• MoneyGram Ramps is a target path, not a partner: integration requires allowlisting, SEP-1, SEP-10, SEP-24, KYC fields, testing/certification, KYB/compliance, and agreements.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50">
                <a:solidFill>
                  <a:srgbClr val="51617A"/>
                </a:solidFill>
                <a:latin typeface="Manrope"/>
              </a:defRPr>
            </a:pPr>
            <a:r>
              <a:t>• MoneyGram limits, three sources disagree: docs 5–950 on-ramp/5–2,500 off-ramp USDC; live endpoint floors at 1; certification tier caps 10–20 (100 aggregate). Malaysia and Philippines are both cash-out only — no MY salary cash-in route exists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08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1617A"/>
                </a:solidFill>
                <a:latin typeface="Manrope"/>
              </a:rPr>
              <a:t>Sources: Stellar anchors/SEP-24 docs; MoneyGram Ramps integration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BUSINESS MODEL + GTM HYPOTHESES — UNVALIDATED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Hypotheses to test — not forecasts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30368" cy="4389120"/>
          </a:xfrm>
          <a:prstGeom prst="roundRect">
            <a:avLst/>
          </a:prstGeom>
          <a:solidFill>
            <a:srgbClr val="FDF1E0"/>
          </a:solidFill>
          <a:ln w="15240">
            <a:solidFill>
              <a:srgbClr val="FD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55648"/>
            <a:ext cx="2176272" cy="310896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21762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UNVALIDATED 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617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51617A"/>
                </a:solidFill>
                <a:latin typeface="Manrope"/>
              </a:defRPr>
            </a:pPr>
            <a:r>
              <a:t>• Transparent sender service fee within a licensed provider quote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51617A"/>
                </a:solidFill>
                <a:latin typeface="Manrope"/>
              </a:defRPr>
            </a:pPr>
            <a:r>
              <a:t>• Provider referral/revenue share where permitted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51617A"/>
                </a:solidFill>
                <a:latin typeface="Manrope"/>
              </a:defRPr>
            </a:pPr>
            <a:r>
              <a:t>• Employer, cooperative, or worker-community distribution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51617A"/>
                </a:solidFill>
                <a:latin typeface="Manrope"/>
              </a:defRPr>
            </a:pPr>
            <a:r>
              <a:t>• No validated price, take rate, margin, or unit economics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3036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0528" y="1755648"/>
            <a:ext cx="1572768" cy="310896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73936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GTM EXPERIMENTS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67712"/>
            <a:ext cx="4617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Interview Filipino workers in Malaysia and family recipients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Test planning/reminder value before automation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Map compliant Malaysia funding and Philippines payout partners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Run testnet usability studies for signing, address safety, and proof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1617A"/>
                </a:solidFill>
                <a:latin typeface="Manrope"/>
              </a:defRPr>
            </a:pPr>
            <a:r>
              <a:t>• Seek provider sandbox/certification conversations without claiming partnership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369A1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BUILD STATUS +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67512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B1B2B"/>
                </a:solidFill>
                <a:latin typeface="Fraunces"/>
              </a:rPr>
              <a:t>A working mainnet core, with an honest last-mile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292608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1617A"/>
                </a:solidFill>
                <a:latin typeface="Manrope"/>
              </a:rPr>
              <a:t>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30368" cy="4434840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55648"/>
            <a:ext cx="713232" cy="310896"/>
          </a:xfrm>
          <a:prstGeom prst="roundRect">
            <a:avLst/>
          </a:prstGeom>
          <a:solidFill>
            <a:srgbClr val="E6F3FB"/>
          </a:solidFill>
          <a:ln w="15240">
            <a:solidFill>
              <a:srgbClr val="9DC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220">
                <a:solidFill>
                  <a:srgbClr val="51617A"/>
                </a:solidFill>
                <a:latin typeface="Manrope"/>
              </a:defRPr>
            </a:pPr>
            <a:r>
              <a:t>• Direct payment verification; support-plan UI; honest status boundary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220">
                <a:solidFill>
                  <a:srgbClr val="51617A"/>
                </a:solidFill>
                <a:latin typeface="Manrope"/>
              </a:defRPr>
            </a:pPr>
            <a:r>
              <a:t>• Current endpoints stop at Verified on-chain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2724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1617A"/>
                </a:solidFill>
                <a:latin typeface="Manrope"/>
              </a:rPr>
              <a:t>Deployed on mainnet, creator key under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64992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B1B2B"/>
                </a:solidFill>
                <a:latin typeface="Consolas"/>
              </a:rPr>
              <a:t>CBVAZDK2GAX5MJ7SSSQKRLY33TO7Q6DG3ZGZK6WMZSGI63XRMIR2CTHR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77639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1617A"/>
                </a:solidFill>
                <a:latin typeface="Manrope"/>
              </a:rPr>
              <a:t>Mainnet release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15384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B1B2B"/>
                </a:solidFill>
                <a:latin typeface="Consolas"/>
              </a:rPr>
              <a:t>pending — to be signed before submission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230368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0528" y="1755648"/>
            <a:ext cx="658368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CBE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77393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369A1"/>
                </a:solidFill>
                <a:latin typeface="Manrope"/>
              </a:rPr>
              <a:t>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12848"/>
            <a:ext cx="4617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20">
                <a:solidFill>
                  <a:srgbClr val="51617A"/>
                </a:solidFill>
                <a:latin typeface="Manrope"/>
              </a:defRPr>
            </a:pPr>
            <a:r>
              <a:t>• Customer-discovery introductions in Malaysia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20">
                <a:solidFill>
                  <a:srgbClr val="51617A"/>
                </a:solidFill>
                <a:latin typeface="Manrope"/>
              </a:defRPr>
            </a:pPr>
            <a:r>
              <a:t>• Anchor review: confirm third-party cash pickup (no recipient wallet/KYC) and a Malaysia MYR on-ramp path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20">
                <a:solidFill>
                  <a:srgbClr val="51617A"/>
                </a:solidFill>
                <a:latin typeface="Manrope"/>
              </a:defRPr>
            </a:pPr>
            <a:r>
              <a:t>• Feedback on the planning job before adding last-mile complexity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20">
                <a:solidFill>
                  <a:srgbClr val="51617A"/>
                </a:solidFill>
                <a:latin typeface="Manrope"/>
              </a:defRPr>
            </a:pPr>
            <a:r>
              <a:t>• Help mapping a compliant Malaysia funding → Philippines payout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279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69A1"/>
                </a:solidFill>
                <a:latin typeface="Manrope"/>
              </a:rPr>
              <a:t>NOT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645152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1617A"/>
                </a:solidFill>
                <a:latin typeface="Manrope"/>
              </a:rPr>
              <a:t>SEP-24, MoneyGram API/webview, KYC, provider routing/status/reference, PHP cash-out, automatic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1617A"/>
                </a:solidFill>
                <a:latin typeface="Manrope"/>
              </a:rPr>
              <a:t>Proof: https://stellar.expert/explorer/public/contract/CBVAZDK2GAX5MJ7SSSQKRLY33TO7Q6DG3ZGZK6WMZSGI63XRMIR2CTHR (testnet release history: contracts/DEPLOYMENT.md)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