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369A1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369A1"/>
                </a:solidFill>
                <a:latin typeface="Manrope"/>
              </a:rPr>
              <a:t>HOP STELLAR 2026 · PRODUCT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0369A1"/>
                </a:solidFill>
                <a:latin typeface="Fraunces"/>
              </a:rPr>
              <a:t>Bakti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0B1B2B"/>
                </a:solidFill>
                <a:latin typeface="Fraunces"/>
              </a:rPr>
              <a:t>Plan salary-day support. Verify the transfer.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9748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51617A"/>
                </a:solidFill>
                <a:latin typeface="Manrope"/>
              </a:rPr>
              <a:t>Filipino workers in Malaysia → family in the Philippines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474720"/>
            <a:ext cx="5257800" cy="1508760"/>
          </a:xfrm>
          <a:prstGeom prst="roundRect">
            <a:avLst/>
          </a:prstGeom>
          <a:solidFill>
            <a:srgbClr val="E6F3FB"/>
          </a:solidFill>
          <a:ln w="15240">
            <a:solidFill>
              <a:srgbClr val="9DC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32688" y="3685032"/>
            <a:ext cx="914400" cy="310896"/>
          </a:xfrm>
          <a:prstGeom prst="roundRect">
            <a:avLst/>
          </a:prstGeom>
          <a:solidFill>
            <a:srgbClr val="E6F3FB"/>
          </a:solidFill>
          <a:ln w="15240">
            <a:solidFill>
              <a:srgbClr val="9DC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37033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369A1"/>
                </a:solidFill>
                <a:latin typeface="Manrope"/>
              </a:rPr>
              <a:t>CURRENT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1480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B2B"/>
                </a:solidFill>
                <a:latin typeface="Manrope"/>
              </a:rPr>
              <a:t>Stellar testnet prototype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48056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1617A"/>
                </a:solidFill>
                <a:latin typeface="Manrope"/>
              </a:rPr>
              <a:t>Signed XLM escrow releases, direct payments, and on-chain verification.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3474720"/>
            <a:ext cx="5257800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DCBE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83096" y="3685032"/>
            <a:ext cx="914400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DCBE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3096" y="37033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369A1"/>
                </a:solidFill>
                <a:latin typeface="Manrope"/>
              </a:rPr>
              <a:t>PLANNED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11480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1B2B"/>
                </a:solidFill>
                <a:latin typeface="Manrope"/>
              </a:rPr>
              <a:t>Licensed PHP cash-out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4480560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1617A"/>
                </a:solidFill>
                <a:latin typeface="Manrope"/>
              </a:rPr>
              <a:t>Provider SEP-24, KYC, routing/status, and confirmed collection.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7220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1617A"/>
                </a:solidFill>
                <a:latin typeface="Manrope"/>
              </a:rPr>
              <a:t>Stellar testnet prototype · licensed cash-out is the next 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27080" y="292608"/>
            <a:ext cx="566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1617A"/>
                </a:solidFill>
                <a:latin typeface="Manrope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369A1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Manrope"/>
              </a:rPr>
              <a:t>HUMAN PROBLEM / TARGET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6751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0B1B2B"/>
                </a:solidFill>
                <a:latin typeface="Fraunces"/>
              </a:rPr>
              <a:t>“I want support to be ready around salary day.”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292608"/>
            <a:ext cx="566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1617A"/>
                </a:solidFill>
                <a:latin typeface="Manrope"/>
              </a:rPr>
              <a:t>2 /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81328"/>
            <a:ext cx="2926080" cy="310896"/>
          </a:xfrm>
          <a:prstGeom prst="roundRect">
            <a:avLst/>
          </a:prstGeom>
          <a:solidFill>
            <a:srgbClr val="E6F3FB"/>
          </a:solidFill>
          <a:ln w="15240">
            <a:solidFill>
              <a:srgbClr val="9DC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9961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369A1"/>
                </a:solidFill>
                <a:latin typeface="Manrope"/>
              </a:rPr>
              <a:t>ILLUSTRATIVE PERSONA — NOT A CLAIMED INTERVIEW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65836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>
                <a:solidFill>
                  <a:srgbClr val="0B1B2B"/>
                </a:solidFill>
                <a:latin typeface="Fraunces"/>
              </a:rPr>
              <a:t>Maria is a Filipino service worker in Kuala Lumpur. Around salary day she wants to set aside support for her mother in the Philippines, remember the commitment, and know where the transfer went.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40480"/>
            <a:ext cx="65836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1617A"/>
                </a:solidFill>
                <a:latin typeface="Manrope"/>
              </a:rPr>
              <a:t>Today she still needs her mother's Stellar address. Maria signs every transfer; Bakti does not send automatically.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369A1"/>
                </a:solidFill>
                <a:latin typeface="Manrope"/>
              </a:rPr>
              <a:t>Job: make family support intentional, legible, and verifiable.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1463040"/>
            <a:ext cx="3566160" cy="4480560"/>
          </a:xfrm>
          <a:prstGeom prst="roundRect">
            <a:avLst/>
          </a:prstGeom>
          <a:solidFill>
            <a:srgbClr val="FDF1E0"/>
          </a:solidFill>
          <a:ln w="15240"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15400" y="2240280"/>
            <a:ext cx="1554480" cy="155448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89720" y="2487168"/>
            <a:ext cx="1005840" cy="777240"/>
          </a:xfrm>
          <a:prstGeom prst="ellipse">
            <a:avLst/>
          </a:prstGeom>
          <a:solidFill>
            <a:srgbClr val="FDF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41605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51617A"/>
                </a:solidFill>
                <a:latin typeface="Manrope"/>
              </a:rPr>
              <a:t>MARIA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59028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B1B2B"/>
                </a:solidFill>
                <a:latin typeface="Manrope"/>
              </a:rPr>
              <a:t>Illustrative persona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495604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1617A"/>
                </a:solidFill>
                <a:latin typeface="Manrope"/>
              </a:rPr>
              <a:t>Not a claimed interview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369A1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Manrope"/>
              </a:rPr>
              <a:t>CORRIDOR EVIDENCE — SIGNAL, NOT 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6751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0B1B2B"/>
                </a:solidFill>
                <a:latin typeface="Fraunces"/>
              </a:rPr>
              <a:t>A large national flow, with a measured Malaysia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292608"/>
            <a:ext cx="566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1617A"/>
                </a:solidFill>
                <a:latin typeface="Manrope"/>
              </a:rPr>
              <a:t>3 /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429000" cy="1600200"/>
          </a:xfrm>
          <a:prstGeom prst="roundRect">
            <a:avLst/>
          </a:prstGeom>
          <a:solidFill>
            <a:srgbClr val="FDF1E0"/>
          </a:solidFill>
          <a:ln w="15240">
            <a:solidFill>
              <a:srgbClr val="FDF1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810512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0B1B2B"/>
                </a:solidFill>
                <a:latin typeface="Fraunces"/>
              </a:rPr>
              <a:t>US$39.619B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957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17A"/>
                </a:solidFill>
                <a:latin typeface="Manrope"/>
              </a:rPr>
              <a:t>Philippines personal remittances, 2025 preliminary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554480"/>
            <a:ext cx="3429000" cy="1600200"/>
          </a:xfrm>
          <a:prstGeom prst="roundRect">
            <a:avLst/>
          </a:prstGeom>
          <a:solidFill>
            <a:srgbClr val="FDF1E0"/>
          </a:solidFill>
          <a:ln w="15240">
            <a:solidFill>
              <a:srgbClr val="FDF1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10512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0B1B2B"/>
                </a:solidFill>
                <a:latin typeface="Fraunces"/>
              </a:rPr>
              <a:t>US$35.634B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3957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17A"/>
                </a:solidFill>
                <a:latin typeface="Manrope"/>
              </a:rPr>
              <a:t>Philippines cash remittances, 2025 preliminary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554480"/>
            <a:ext cx="3429000" cy="1600200"/>
          </a:xfrm>
          <a:prstGeom prst="roundRect">
            <a:avLst/>
          </a:prstGeom>
          <a:solidFill>
            <a:srgbClr val="FDF1E0"/>
          </a:solidFill>
          <a:ln w="15240">
            <a:solidFill>
              <a:srgbClr val="FDF1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2" y="1810512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0B1B2B"/>
                </a:solidFill>
                <a:latin typeface="Fraunces"/>
              </a:rPr>
              <a:t>US$675.153M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2" y="23957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17A"/>
                </a:solidFill>
                <a:latin typeface="Manrope"/>
              </a:rPr>
              <a:t>Malaysia-attributed Philippine cash remittances, 2025 provisional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474720"/>
            <a:ext cx="10808208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673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1B2B"/>
                </a:solidFill>
                <a:latin typeface="Manrope"/>
              </a:rPr>
              <a:t>Jan–May 2026: US$15.735B personal; US$14.110B cash; US$279.807M Malaysia-attributed cash.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25112"/>
            <a:ext cx="10241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1617A"/>
                </a:solidFill>
                <a:latin typeface="Manrope"/>
              </a:rPr>
              <a:t>BSP source-country attribution is the immediate source of funds, not necessarily true origin.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80760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1617A"/>
                </a:solidFill>
                <a:latin typeface="Manrope"/>
              </a:rPr>
              <a:t>Source: BSP https://www.bsp.gov.ph/statistics/external/ofw.aspx and https://www.bsp.gov.ph/statistics/external/ofw2.aspx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369A1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Manrope"/>
              </a:rPr>
              <a:t>CUSTOMER AND JOB TO BE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6751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0B1B2B"/>
                </a:solidFill>
                <a:latin typeface="Fraunces"/>
              </a:rPr>
              <a:t>One narrow customer; one clear job to be 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292608"/>
            <a:ext cx="566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1617A"/>
                </a:solidFill>
                <a:latin typeface="Manrope"/>
              </a:rPr>
              <a:t>4 /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81328"/>
            <a:ext cx="10808208" cy="530352"/>
          </a:xfrm>
          <a:prstGeom prst="roundRect">
            <a:avLst/>
          </a:prstGeom>
          <a:solidFill>
            <a:srgbClr val="E6F3FB"/>
          </a:solidFill>
          <a:ln w="15240"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00200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1B2B"/>
                </a:solidFill>
                <a:latin typeface="Manrope"/>
              </a:rPr>
              <a:t>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4368" y="1600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17A"/>
                </a:solidFill>
                <a:latin typeface="Manrope"/>
              </a:rPr>
              <a:t>Filipino worker in Malaysia with a Stellar wallet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93976"/>
            <a:ext cx="10808208" cy="5303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212848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1B2B"/>
                </a:solidFill>
                <a:latin typeface="Manrope"/>
              </a:rPr>
              <a:t>Recipient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2128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17A"/>
                </a:solidFill>
                <a:latin typeface="Manrope"/>
              </a:rPr>
              <a:t>Family member with a Stellar address in the Philippines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06624"/>
            <a:ext cx="10808208" cy="530352"/>
          </a:xfrm>
          <a:prstGeom prst="roundRect">
            <a:avLst/>
          </a:prstGeom>
          <a:solidFill>
            <a:srgbClr val="E6F3FB"/>
          </a:solidFill>
          <a:ln w="15240"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825496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1B2B"/>
                </a:solidFill>
                <a:latin typeface="Manrope"/>
              </a:rPr>
              <a:t>Trigger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2825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17A"/>
                </a:solidFill>
                <a:latin typeface="Manrope"/>
              </a:rPr>
              <a:t>Salary day or another chosen planning 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319272"/>
            <a:ext cx="10808208" cy="5303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438144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1B2B"/>
                </a:solidFill>
                <a:latin typeface="Manrope"/>
              </a:rPr>
              <a:t>Functional job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343814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17A"/>
                </a:solidFill>
                <a:latin typeface="Manrope"/>
              </a:rPr>
              <a:t>Store recipient + amount + date, then sign a transfer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931920"/>
            <a:ext cx="10808208" cy="530352"/>
          </a:xfrm>
          <a:prstGeom prst="roundRect">
            <a:avLst/>
          </a:prstGeom>
          <a:solidFill>
            <a:srgbClr val="E6F3FB"/>
          </a:solidFill>
          <a:ln w="15240"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050791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1B2B"/>
                </a:solidFill>
                <a:latin typeface="Manrope"/>
              </a:rPr>
              <a:t>Emotional job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4368" y="4050791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17A"/>
                </a:solidFill>
                <a:latin typeface="Manrope"/>
              </a:rPr>
              <a:t>Feel responsible without pretending the transfer is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544568"/>
            <a:ext cx="10808208" cy="5303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663440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1B2B"/>
                </a:solidFill>
                <a:latin typeface="Manrope"/>
              </a:rPr>
              <a:t>Evidence job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44368" y="46634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17A"/>
                </a:solidFill>
                <a:latin typeface="Manrope"/>
              </a:rPr>
              <a:t>Open a real transaction hash and verify the destination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157216"/>
            <a:ext cx="10808208" cy="530352"/>
          </a:xfrm>
          <a:prstGeom prst="roundRect">
            <a:avLst/>
          </a:prstGeom>
          <a:solidFill>
            <a:srgbClr val="E6F3FB"/>
          </a:solidFill>
          <a:ln w="15240"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276088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1B2B"/>
                </a:solidFill>
                <a:latin typeface="Manrope"/>
              </a:rPr>
              <a:t>Research next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4368" y="5276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17A"/>
                </a:solidFill>
                <a:latin typeface="Manrope"/>
              </a:rPr>
              <a:t>Recipient cash preference, funding rail, provider trust, compliance path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369A1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Manrope"/>
              </a:rPr>
              <a:t>PRODUCT TODAY VS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6751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0B1B2B"/>
                </a:solidFill>
                <a:latin typeface="Fraunces"/>
              </a:rPr>
              <a:t>Do not confuse on-chain proof with cash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292608"/>
            <a:ext cx="566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1617A"/>
                </a:solidFill>
                <a:latin typeface="Manrope"/>
              </a:rPr>
              <a:t>5 /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230368" cy="4343400"/>
          </a:xfrm>
          <a:prstGeom prst="roundRect">
            <a:avLst/>
          </a:prstGeom>
          <a:solidFill>
            <a:srgbClr val="E6F3FB"/>
          </a:solidFill>
          <a:ln w="15240">
            <a:solidFill>
              <a:srgbClr val="9DC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32688" y="1737360"/>
            <a:ext cx="1481328" cy="310896"/>
          </a:xfrm>
          <a:prstGeom prst="roundRect">
            <a:avLst/>
          </a:prstGeom>
          <a:solidFill>
            <a:srgbClr val="E6F3FB"/>
          </a:solidFill>
          <a:ln w="15240">
            <a:solidFill>
              <a:srgbClr val="9DC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55648"/>
            <a:ext cx="14813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369A1"/>
                </a:solidFill>
                <a:latin typeface="Manrope"/>
              </a:rPr>
              <a:t>TODAY · 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267712"/>
            <a:ext cx="4617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Freighter connection + custom signed manageData session (not SEP-10)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Support-plan records; reminder day is metadata only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XLM Soroban escrow/release with 60-ledger demo cadence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Direct XLM/USDC payment to entered recipient address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Horizon/RPC verification, SEP-7 direct pay link, recipient watcher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Status ends at Verified on-chain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230368" cy="4343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DCBE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10528" y="1737360"/>
            <a:ext cx="1463040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DCBE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75564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369A1"/>
                </a:solidFill>
                <a:latin typeface="Manrope"/>
              </a:rPr>
              <a:t>NEXT · PLANNED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267712"/>
            <a:ext cx="4617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Licensed anchor/provider onboarding and agreements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SEP-1 + provider SEP-10 + hosted SEP-24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KYC, quote/limits, approved deposit routing, provider status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PHP cash-out, provider reference, provider-confirmed collection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No current MoneyGram partnership or connected cash route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369A1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Manrope"/>
              </a:rPr>
              <a:t>ONE FLOW — SOLID IS CURRENT, DASHED IS PLANNED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6751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0B1B2B"/>
                </a:solidFill>
                <a:latin typeface="Fraunces"/>
              </a:rPr>
              <a:t>Solid is current. Dashed is planned.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292608"/>
            <a:ext cx="566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1617A"/>
                </a:solidFill>
                <a:latin typeface="Manrope"/>
              </a:rPr>
              <a:t>6 /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205740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DC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1671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1B2B"/>
                </a:solidFill>
                <a:latin typeface="Manrope"/>
              </a:rPr>
              <a:t>Sender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78608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1617A"/>
                </a:solidFill>
                <a:latin typeface="Manrope"/>
              </a:rPr>
              <a:t>Filipino worker
in Malaysia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0632" y="231343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500" b="1">
                <a:solidFill>
                  <a:srgbClr val="0369A1"/>
                </a:solidFill>
                <a:latin typeface="Manrope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9584" y="1874519"/>
            <a:ext cx="205740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DC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21671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1B2B"/>
                </a:solidFill>
                <a:latin typeface="Manrope"/>
              </a:rPr>
              <a:t>Bakti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578608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1617A"/>
                </a:solidFill>
                <a:latin typeface="Manrope"/>
              </a:rPr>
              <a:t>Recipient + amount
+ planning 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48" y="231343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500" b="1">
                <a:solidFill>
                  <a:srgbClr val="0369A1"/>
                </a:solidFill>
                <a:latin typeface="Manrop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874519"/>
            <a:ext cx="205740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DC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1671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1B2B"/>
                </a:solidFill>
                <a:latin typeface="Manrope"/>
              </a:rPr>
              <a:t>Stellar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578608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1617A"/>
                </a:solidFill>
                <a:latin typeface="Manrope"/>
              </a:rPr>
              <a:t>Direct payment or
XLM escrow release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231343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500" b="1">
                <a:solidFill>
                  <a:srgbClr val="0369A1"/>
                </a:solidFill>
                <a:latin typeface="Manrope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72016" y="1874519"/>
            <a:ext cx="205740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DC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1744" y="21671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1B2B"/>
                </a:solidFill>
                <a:latin typeface="Manrope"/>
              </a:rPr>
              <a:t>Recipient wallet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81744" y="2578608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1617A"/>
                </a:solidFill>
                <a:latin typeface="Manrope"/>
              </a:rPr>
              <a:t>Entered Stellar
address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886200"/>
            <a:ext cx="1080820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DCBE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133087"/>
            <a:ext cx="914400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DCBE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15137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369A1"/>
                </a:solidFill>
                <a:latin typeface="Manrope"/>
              </a:rPr>
              <a:t>PLANNED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096512"/>
            <a:ext cx="90982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1B2B"/>
                </a:solidFill>
                <a:latin typeface="Manrope"/>
              </a:rPr>
              <a:t>Planned continuation: Stellar/provider deposit → licensed anchor → KYC → PHP cash-out → family member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5780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1617A"/>
                </a:solidFill>
                <a:latin typeface="Manrope"/>
              </a:rPr>
              <a:t>Current product requires the recipient wallet address.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2356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1617A"/>
                </a:solidFill>
                <a:latin typeface="Manrope"/>
              </a:rPr>
              <a:t>No provider destination, pickup reference, or automatic monthly scheduler is wired.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369A1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Manrope"/>
              </a:rPr>
              <a:t>WHY STELLAR; WHY THE PROVIDER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6751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0B1B2B"/>
                </a:solidFill>
                <a:latin typeface="Fraunces"/>
              </a:rPr>
              <a:t>Verifiable rails now; regulated last mile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292608"/>
            <a:ext cx="566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1617A"/>
                </a:solidFill>
                <a:latin typeface="Manrope"/>
              </a:rPr>
              <a:t>7 /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230368" cy="4389120"/>
          </a:xfrm>
          <a:prstGeom prst="roundRect">
            <a:avLst/>
          </a:prstGeom>
          <a:solidFill>
            <a:srgbClr val="E6F3FB"/>
          </a:solidFill>
          <a:ln w="15240">
            <a:solidFill>
              <a:srgbClr val="9DC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922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369A1"/>
                </a:solidFill>
                <a:latin typeface="Manrope"/>
              </a:rPr>
              <a:t>WHY STELLAR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46177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Freighter keeps transaction signing with the sender.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Horizon and Soroban RPC make the implemented transfers inspectable.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Soroban demonstrates pre-funded XLM release rules.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Stellar anchors connect network assets to off-chain rails.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SEP-24 is a hosted interactive deposit/withdrawal flow with anchor authentication and KYC.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08760"/>
            <a:ext cx="5230368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DCBE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7922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369A1"/>
                </a:solidFill>
                <a:latin typeface="Manrope"/>
              </a:rPr>
              <a:t>PROVIDER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212848"/>
            <a:ext cx="46177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250">
                <a:solidFill>
                  <a:srgbClr val="51617A"/>
                </a:solidFill>
                <a:latin typeface="Manrope"/>
              </a:defRPr>
            </a:pPr>
            <a:r>
              <a:t>• MoneyGram Ramps is a target path, not a partner: integration requires allowlisting, SEP-1, SEP-10, SEP-24, KYC fields, testing/certification, KYB/compliance, and agreements.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250">
                <a:solidFill>
                  <a:srgbClr val="51617A"/>
                </a:solidFill>
                <a:latin typeface="Manrope"/>
              </a:defRPr>
            </a:pPr>
            <a:r>
              <a:t>• Published MoneyGram off-ramp range: 5–2,500 USDC. Malaysia and Philippines are listed cash-out only; this does not prove a MY salary cash-in route.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108192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1617A"/>
                </a:solidFill>
                <a:latin typeface="Manrope"/>
              </a:rPr>
              <a:t>Sources: Stellar anchors/SEP-24 docs; MoneyGram Ramps integration docs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369A1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Manrope"/>
              </a:rPr>
              <a:t>BUSINESS MODEL + GTM HYPOTHESES — UNVALIDATED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6751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0B1B2B"/>
                </a:solidFill>
                <a:latin typeface="Fraunces"/>
              </a:rPr>
              <a:t>Hypotheses to test — not forecasts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292608"/>
            <a:ext cx="566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1617A"/>
                </a:solidFill>
                <a:latin typeface="Manrope"/>
              </a:rPr>
              <a:t>8 /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230368" cy="4389120"/>
          </a:xfrm>
          <a:prstGeom prst="roundRect">
            <a:avLst/>
          </a:prstGeom>
          <a:solidFill>
            <a:srgbClr val="FDF1E0"/>
          </a:solidFill>
          <a:ln w="15240">
            <a:solidFill>
              <a:srgbClr val="FDF1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32688" y="1755648"/>
            <a:ext cx="2176272" cy="310896"/>
          </a:xfrm>
          <a:prstGeom prst="roundRect">
            <a:avLst/>
          </a:prstGeom>
          <a:solidFill>
            <a:srgbClr val="E6F3FB"/>
          </a:solidFill>
          <a:ln w="15240">
            <a:solidFill>
              <a:srgbClr val="9DC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73936"/>
            <a:ext cx="21762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369A1"/>
                </a:solidFill>
                <a:latin typeface="Manrope"/>
              </a:rPr>
              <a:t>UNVALIDATED 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267712"/>
            <a:ext cx="461772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400">
                <a:solidFill>
                  <a:srgbClr val="51617A"/>
                </a:solidFill>
                <a:latin typeface="Manrope"/>
              </a:defRPr>
            </a:pPr>
            <a:r>
              <a:t>• Transparent sender service fee within a licensed provider quote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400">
                <a:solidFill>
                  <a:srgbClr val="51617A"/>
                </a:solidFill>
                <a:latin typeface="Manrope"/>
              </a:defRPr>
            </a:pPr>
            <a:r>
              <a:t>• Provider referral/revenue share where permitted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400">
                <a:solidFill>
                  <a:srgbClr val="51617A"/>
                </a:solidFill>
                <a:latin typeface="Manrope"/>
              </a:defRPr>
            </a:pPr>
            <a:r>
              <a:t>• Employer, cooperative, or worker-community distribution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400">
                <a:solidFill>
                  <a:srgbClr val="51617A"/>
                </a:solidFill>
                <a:latin typeface="Manrope"/>
              </a:defRPr>
            </a:pPr>
            <a:r>
              <a:t>• No validated price, take rate, margin, or unit economics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230368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B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10528" y="1755648"/>
            <a:ext cx="1572768" cy="310896"/>
          </a:xfrm>
          <a:prstGeom prst="roundRect">
            <a:avLst/>
          </a:prstGeom>
          <a:solidFill>
            <a:srgbClr val="E6F3FB"/>
          </a:solidFill>
          <a:ln w="15240">
            <a:solidFill>
              <a:srgbClr val="9DC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773936"/>
            <a:ext cx="15727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369A1"/>
                </a:solidFill>
                <a:latin typeface="Manrope"/>
              </a:rPr>
              <a:t>GTM EXPERIMENTS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267712"/>
            <a:ext cx="461772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Interview Filipino workers in Malaysia and family recipients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Test planning/reminder value before automation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Map compliant Malaysia funding and Philippines payout partners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Run testnet usability studies for signing, address safety, and proof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50">
                <a:solidFill>
                  <a:srgbClr val="51617A"/>
                </a:solidFill>
                <a:latin typeface="Manrope"/>
              </a:defRPr>
            </a:pPr>
            <a:r>
              <a:t>• Seek provider sandbox/certification conversations without claiming partnership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369A1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Manrope"/>
              </a:rPr>
              <a:t>BUILD STATUS +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6751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0B1B2B"/>
                </a:solidFill>
                <a:latin typeface="Fraunces"/>
              </a:rPr>
              <a:t>A working testnet core, with an honest last-mile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292608"/>
            <a:ext cx="566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1617A"/>
                </a:solidFill>
                <a:latin typeface="Manrope"/>
              </a:rPr>
              <a:t>9 /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230368" cy="4434840"/>
          </a:xfrm>
          <a:prstGeom prst="roundRect">
            <a:avLst/>
          </a:prstGeom>
          <a:solidFill>
            <a:srgbClr val="E6F3FB"/>
          </a:solidFill>
          <a:ln w="15240">
            <a:solidFill>
              <a:srgbClr val="9DC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32688" y="1755648"/>
            <a:ext cx="713232" cy="310896"/>
          </a:xfrm>
          <a:prstGeom prst="roundRect">
            <a:avLst/>
          </a:prstGeom>
          <a:solidFill>
            <a:srgbClr val="E6F3FB"/>
          </a:solidFill>
          <a:ln w="15240">
            <a:solidFill>
              <a:srgbClr val="9DC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773936"/>
            <a:ext cx="7132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369A1"/>
                </a:solidFill>
                <a:latin typeface="Manrope"/>
              </a:rPr>
              <a:t>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212848"/>
            <a:ext cx="461772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220">
                <a:solidFill>
                  <a:srgbClr val="51617A"/>
                </a:solidFill>
                <a:latin typeface="Manrope"/>
              </a:defRPr>
            </a:pPr>
            <a:r>
              <a:t>• Verified Stellar testnet contract: CATFEIDC4CQ3ZSYTWAEM4SHWUB5ZK4R7VGE5QO6XDWRQ6UC4ZLB34VCQ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220">
                <a:solidFill>
                  <a:srgbClr val="51617A"/>
                </a:solidFill>
                <a:latin typeface="Manrope"/>
              </a:defRPr>
            </a:pPr>
            <a:r>
              <a:t>• Verified testnet Freighter-signed release: cfa17a939f5cd0c90bc674d7cee61f0f4a67ed4c2f11ab3c789b0e3ad0c419d2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220">
                <a:solidFill>
                  <a:srgbClr val="51617A"/>
                </a:solidFill>
                <a:latin typeface="Manrope"/>
              </a:defRPr>
            </a:pPr>
            <a:r>
              <a:t>• Direct payment verification; support-plan UI; honest status 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069080"/>
            <a:ext cx="4617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1617A"/>
                </a:solidFill>
                <a:latin typeface="Menlo"/>
              </a:rPr>
              <a:t>CATFEIDC4CQ3ZSYTWAEM4SHWUB5ZK4R7VGE5QO6XDWRQ6UC4ZLB34VCQ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754880"/>
            <a:ext cx="4617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1617A"/>
                </a:solidFill>
                <a:latin typeface="Menlo"/>
              </a:rPr>
              <a:t>cfa17a939f5cd0c90bc674d7cee61f0f4a67ed4c2f11ab3c789b0e3ad0c419d2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08760"/>
            <a:ext cx="5230368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DCBE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10528" y="1755648"/>
            <a:ext cx="658368" cy="31089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DCBE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73936"/>
            <a:ext cx="658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369A1"/>
                </a:solidFill>
                <a:latin typeface="Manrope"/>
              </a:rPr>
              <a:t>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12848"/>
            <a:ext cx="46177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320">
                <a:solidFill>
                  <a:srgbClr val="51617A"/>
                </a:solidFill>
                <a:latin typeface="Manrope"/>
              </a:defRPr>
            </a:pPr>
            <a:r>
              <a:t>• Customer-discovery introductions in Malaysia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20">
                <a:solidFill>
                  <a:srgbClr val="51617A"/>
                </a:solidFill>
                <a:latin typeface="Manrope"/>
              </a:defRPr>
            </a:pPr>
            <a:r>
              <a:t>• Licensed anchor/provider technical and compliance review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320">
                <a:solidFill>
                  <a:srgbClr val="51617A"/>
                </a:solidFill>
                <a:latin typeface="Manrope"/>
              </a:defRPr>
            </a:pPr>
            <a:r>
              <a:t>• Feedback on the planning job before adding last-mile complexity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42793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Manrope"/>
              </a:rPr>
              <a:t>NOT BUILT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4645152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1617A"/>
                </a:solidFill>
                <a:latin typeface="Manrope"/>
              </a:rPr>
              <a:t>SEP-24, MoneyGram API/webview, KYC, provider routing/status/reference, PHP cash-out, automatic scheduling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14476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1617A"/>
                </a:solidFill>
                <a:latin typeface="Manrope"/>
              </a:rPr>
              <a:t>Proof: https://stellar.expert/explorer/testnet/tx/cfa17a939f5cd0c90bc674d7cee61f0f4a67ed4c2f11ab3c789b0e3ad0c419d2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